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Trials started</c:v>
                </c:pt>
              </c:strCache>
            </c:strRef>
          </c:tx>
          <c:spPr>
            <a:solidFill>
              <a:srgbClr val="7A3B63"/>
            </a:solidFill>
            <a:ln w="31750" cap="flat">
              <a:solidFill>
                <a:srgbClr val="7A3B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A3B63"/>
              </a:solidFill>
              <a:ln w="9525" cap="flat">
                <a:solidFill>
                  <a:srgbClr val="7A3B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1984</c:v>
                  </c:pt>
                  <c:pt idx="1">
                    <c:v>1985</c:v>
                  </c:pt>
                  <c:pt idx="2">
                    <c:v>1988</c:v>
                  </c:pt>
                  <c:pt idx="3">
                    <c:v>1989</c:v>
                  </c:pt>
                  <c:pt idx="4">
                    <c:v>1990</c:v>
                  </c:pt>
                  <c:pt idx="5">
                    <c:v>1991</c:v>
                  </c:pt>
                  <c:pt idx="6">
                    <c:v>1992</c:v>
                  </c:pt>
                  <c:pt idx="7">
                    <c:v>1993</c:v>
                  </c:pt>
                  <c:pt idx="8">
                    <c:v>1994</c:v>
                  </c:pt>
                  <c:pt idx="9">
                    <c:v>1995</c:v>
                  </c:pt>
                  <c:pt idx="10">
                    <c:v>1996</c:v>
                  </c:pt>
                  <c:pt idx="11">
                    <c:v>1997</c:v>
                  </c:pt>
                  <c:pt idx="12">
                    <c:v>1998</c:v>
                  </c:pt>
                  <c:pt idx="13">
                    <c:v>1999</c:v>
                  </c:pt>
                  <c:pt idx="14">
                    <c:v>2000</c:v>
                  </c:pt>
                  <c:pt idx="15">
                    <c:v>2001</c:v>
                  </c:pt>
                  <c:pt idx="16">
                    <c:v>2002</c:v>
                  </c:pt>
                  <c:pt idx="17">
                    <c:v>2003</c:v>
                  </c:pt>
                  <c:pt idx="18">
                    <c:v>2004</c:v>
                  </c:pt>
                  <c:pt idx="19">
                    <c:v>2005</c:v>
                  </c:pt>
                  <c:pt idx="20">
                    <c:v>2006</c:v>
                  </c:pt>
                  <c:pt idx="21">
                    <c:v>2007</c:v>
                  </c:pt>
                  <c:pt idx="22">
                    <c:v>2008</c:v>
                  </c:pt>
                  <c:pt idx="23">
                    <c:v>2009</c:v>
                  </c:pt>
                  <c:pt idx="24">
                    <c:v>2010</c:v>
                  </c:pt>
                  <c:pt idx="25">
                    <c:v>2011</c:v>
                  </c:pt>
                  <c:pt idx="26">
                    <c:v>2012</c:v>
                  </c:pt>
                  <c:pt idx="27">
                    <c:v>2013</c:v>
                  </c:pt>
                  <c:pt idx="28">
                    <c:v>2014</c:v>
                  </c:pt>
                  <c:pt idx="29">
                    <c:v>2015</c:v>
                  </c:pt>
                  <c:pt idx="30">
                    <c:v>2016</c:v>
                  </c:pt>
                  <c:pt idx="31">
                    <c:v>2017</c:v>
                  </c:pt>
                  <c:pt idx="32">
                    <c:v>2018</c:v>
                  </c:pt>
                </c:lvl>
              </c:multiLvlStrCache>
            </c:multiLvlStrRef>
          </c:cat>
          <c:val>
            <c:numRef>
              <c:f>Sheet1!$B$2:$B$34</c:f>
              <c:numCache>
                <c:formatCode>General</c:formatCode>
                <c:ptCount val="33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2</c:v>
                </c:pt>
                <c:pt idx="6">
                  <c:v>9</c:v>
                </c:pt>
                <c:pt idx="7">
                  <c:v>11</c:v>
                </c:pt>
                <c:pt idx="8">
                  <c:v>5</c:v>
                </c:pt>
                <c:pt idx="9">
                  <c:v>16</c:v>
                </c:pt>
                <c:pt idx="10">
                  <c:v>12</c:v>
                </c:pt>
                <c:pt idx="11">
                  <c:v>35</c:v>
                </c:pt>
                <c:pt idx="12">
                  <c:v>47</c:v>
                </c:pt>
                <c:pt idx="13">
                  <c:v>72</c:v>
                </c:pt>
                <c:pt idx="14">
                  <c:v>113</c:v>
                </c:pt>
                <c:pt idx="15">
                  <c:v>217</c:v>
                </c:pt>
                <c:pt idx="16">
                  <c:v>381</c:v>
                </c:pt>
                <c:pt idx="17">
                  <c:v>607</c:v>
                </c:pt>
                <c:pt idx="18">
                  <c:v>799</c:v>
                </c:pt>
                <c:pt idx="19">
                  <c:v>897</c:v>
                </c:pt>
                <c:pt idx="20">
                  <c:v>1104</c:v>
                </c:pt>
                <c:pt idx="21">
                  <c:v>1115</c:v>
                </c:pt>
                <c:pt idx="22">
                  <c:v>1089</c:v>
                </c:pt>
                <c:pt idx="23">
                  <c:v>964</c:v>
                </c:pt>
                <c:pt idx="24">
                  <c:v>913</c:v>
                </c:pt>
                <c:pt idx="25">
                  <c:v>872</c:v>
                </c:pt>
                <c:pt idx="26">
                  <c:v>802</c:v>
                </c:pt>
                <c:pt idx="27">
                  <c:v>741</c:v>
                </c:pt>
                <c:pt idx="28">
                  <c:v>649</c:v>
                </c:pt>
                <c:pt idx="29">
                  <c:v>669</c:v>
                </c:pt>
                <c:pt idx="30">
                  <c:v>555</c:v>
                </c:pt>
                <c:pt idx="31">
                  <c:v>472</c:v>
                </c:pt>
                <c:pt idx="32">
                  <c:v>518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DEE9"/>
            </a:solidFill>
            <a:prstDash val="solid"/>
            <a:round/>
          </a:ln>
        </c:spPr>
        <c:txPr>
          <a:bodyPr rot="2700000"/>
          <a:lstStyle/>
          <a:p>
            <a:pPr>
              <a:defRPr sz="900" b="0" i="0" u="none" strike="noStrike">
                <a:solidFill>
                  <a:srgbClr val="978A9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DE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978A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978A9C"/>
                    </a:solidFill>
                    <a:latin typeface="Arial"/>
                  </a:rPr>
                  <a:t>Trials started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78A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Phase 1</c:v>
                </c:pt>
              </c:strCache>
            </c:strRef>
          </c:tx>
          <c:spPr>
            <a:solidFill>
              <a:srgbClr val="3B1E4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1990s</c:v>
                  </c:pt>
                  <c:pt idx="1">
                    <c:v>2000s</c:v>
                  </c:pt>
                  <c:pt idx="2">
                    <c:v>2010s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</c:v>
                </c:pt>
                <c:pt idx="1">
                  <c:v>14.7</c:v>
                </c:pt>
                <c:pt idx="2">
                  <c:v>25.4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Phase 2</c:v>
                </c:pt>
              </c:strCache>
            </c:strRef>
          </c:tx>
          <c:spPr>
            <a:solidFill>
              <a:srgbClr val="7A3B6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1990s</c:v>
                  </c:pt>
                  <c:pt idx="1">
                    <c:v>2000s</c:v>
                  </c:pt>
                  <c:pt idx="2">
                    <c:v>2010s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24.4</c:v>
                </c:pt>
                <c:pt idx="1">
                  <c:v>27.6</c:v>
                </c:pt>
                <c:pt idx="2">
                  <c:v>27.7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Phase 3</c:v>
                </c:pt>
              </c:strCache>
            </c:strRef>
          </c:tx>
          <c:spPr>
            <a:solidFill>
              <a:srgbClr val="B08D5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1990s</c:v>
                  </c:pt>
                  <c:pt idx="1">
                    <c:v>2000s</c:v>
                  </c:pt>
                  <c:pt idx="2">
                    <c:v>2010s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65.5</c:v>
                </c:pt>
                <c:pt idx="1">
                  <c:v>38.6</c:v>
                </c:pt>
                <c:pt idx="2">
                  <c:v>35.3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Phase 4</c:v>
                </c:pt>
              </c:strCache>
            </c:strRef>
          </c:tx>
          <c:spPr>
            <a:solidFill>
              <a:srgbClr val="C99A3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1990s</c:v>
                  </c:pt>
                  <c:pt idx="1">
                    <c:v>2000s</c:v>
                  </c:pt>
                  <c:pt idx="2">
                    <c:v>2010s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6.1</c:v>
                </c:pt>
                <c:pt idx="1">
                  <c:v>19.1</c:v>
                </c:pt>
                <c:pt idx="2">
                  <c:v>11.5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DEE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9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78A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B193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Completion rate</c:v>
                </c:pt>
              </c:strCache>
            </c:strRef>
          </c:tx>
          <c:spPr>
            <a:solidFill>
              <a:srgbClr val="3B1E40">
                <a:alpha val="100000"/>
              </a:srgbClr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2B19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1E4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9A3B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AbbVie</c:v>
                  </c:pt>
                  <c:pt idx="1">
                    <c:v>Gilead</c:v>
                  </c:pt>
                  <c:pt idx="2">
                    <c:v>Roche</c:v>
                  </c:pt>
                  <c:pt idx="3">
                    <c:v>Pfizer</c:v>
                  </c:pt>
                  <c:pt idx="4">
                    <c:v>Novartis</c:v>
                  </c:pt>
                  <c:pt idx="5">
                    <c:v>JNJ</c:v>
                  </c:pt>
                  <c:pt idx="6">
                    <c:v>Bayer</c:v>
                  </c:pt>
                  <c:pt idx="7">
                    <c:v>Merck</c:v>
                  </c:pt>
                  <c:pt idx="8">
                    <c:v>Sanofi</c:v>
                  </c:pt>
                  <c:pt idx="9">
                    <c:v>GSK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59.2</c:v>
                </c:pt>
                <c:pt idx="1">
                  <c:v>69.1</c:v>
                </c:pt>
                <c:pt idx="2">
                  <c:v>70.5</c:v>
                </c:pt>
                <c:pt idx="3">
                  <c:v>74.8</c:v>
                </c:pt>
                <c:pt idx="4">
                  <c:v>75.1</c:v>
                </c:pt>
                <c:pt idx="5">
                  <c:v>75.9</c:v>
                </c:pt>
                <c:pt idx="6">
                  <c:v>75.9</c:v>
                </c:pt>
                <c:pt idx="7">
                  <c:v>76.8</c:v>
                </c:pt>
                <c:pt idx="8">
                  <c:v>80.8</c:v>
                </c:pt>
                <c:pt idx="9">
                  <c:v>85.6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2B19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DEE9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B19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Terminated / withdrawn</c:v>
                </c:pt>
              </c:strCache>
            </c:strRef>
          </c:tx>
          <c:spPr>
            <a:solidFill>
              <a:srgbClr val="7A3B6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2B19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3B6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9A3B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AbbVie</c:v>
                  </c:pt>
                  <c:pt idx="1">
                    <c:v>Bayer</c:v>
                  </c:pt>
                  <c:pt idx="2">
                    <c:v>GSK</c:v>
                  </c:pt>
                  <c:pt idx="3">
                    <c:v>Roche</c:v>
                  </c:pt>
                  <c:pt idx="4">
                    <c:v>Sanofi</c:v>
                  </c:pt>
                  <c:pt idx="5">
                    <c:v>JNJ</c:v>
                  </c:pt>
                  <c:pt idx="6">
                    <c:v>Novartis</c:v>
                  </c:pt>
                  <c:pt idx="7">
                    <c:v>Gilead</c:v>
                  </c:pt>
                  <c:pt idx="8">
                    <c:v>Merck</c:v>
                  </c:pt>
                  <c:pt idx="9">
                    <c:v>Pfizer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5.8</c:v>
                </c:pt>
                <c:pt idx="1">
                  <c:v>8.7</c:v>
                </c:pt>
                <c:pt idx="2">
                  <c:v>8.8</c:v>
                </c:pt>
                <c:pt idx="3">
                  <c:v>9.2</c:v>
                </c:pt>
                <c:pt idx="4">
                  <c:v>9.8</c:v>
                </c:pt>
                <c:pt idx="5">
                  <c:v>10.3</c:v>
                </c:pt>
                <c:pt idx="6">
                  <c:v>11</c:v>
                </c:pt>
                <c:pt idx="7">
                  <c:v>12.9</c:v>
                </c:pt>
                <c:pt idx="8">
                  <c:v>14.6</c:v>
                </c:pt>
                <c:pt idx="9">
                  <c:v>17.5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2B19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DEE9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B19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enrollment</c:v>
                </c:pt>
              </c:strCache>
            </c:strRef>
          </c:tx>
          <c:spPr>
            <a:solidFill>
              <a:srgbClr val="978A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9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9A3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78A9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Phase 1</c:v>
                  </c:pt>
                  <c:pt idx="1">
                    <c:v>Phase 2</c:v>
                  </c:pt>
                  <c:pt idx="2">
                    <c:v>Phase 3</c:v>
                  </c:pt>
                  <c:pt idx="3">
                    <c:v>Phase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98</c:v>
                </c:pt>
                <c:pt idx="2">
                  <c:v>360</c:v>
                </c:pt>
                <c:pt idx="3">
                  <c:v>171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B19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DEE9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B19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enrollment</c:v>
                </c:pt>
              </c:strCache>
            </c:strRef>
          </c:tx>
          <c:spPr>
            <a:solidFill>
              <a:srgbClr val="C99A3B"/>
            </a:solidFill>
            <a:ln w="34925" cap="flat">
              <a:solidFill>
                <a:srgbClr val="C99A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9A3B"/>
              </a:solidFill>
              <a:ln w="9525" cap="flat">
                <a:solidFill>
                  <a:srgbClr val="C99A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1997</c:v>
                  </c:pt>
                  <c:pt idx="1">
                    <c:v>1998</c:v>
                  </c:pt>
                  <c:pt idx="2">
                    <c:v>1999</c:v>
                  </c:pt>
                  <c:pt idx="3">
                    <c:v>2000</c:v>
                  </c:pt>
                  <c:pt idx="4">
                    <c:v>2001</c:v>
                  </c:pt>
                  <c:pt idx="5">
                    <c:v>2002</c:v>
                  </c:pt>
                  <c:pt idx="6">
                    <c:v>2003</c:v>
                  </c:pt>
                  <c:pt idx="7">
                    <c:v>2004</c:v>
                  </c:pt>
                  <c:pt idx="8">
                    <c:v>2005</c:v>
                  </c:pt>
                  <c:pt idx="9">
                    <c:v>2006</c:v>
                  </c:pt>
                  <c:pt idx="10">
                    <c:v>2007</c:v>
                  </c:pt>
                  <c:pt idx="11">
                    <c:v>2008</c:v>
                  </c:pt>
                  <c:pt idx="12">
                    <c:v>2009</c:v>
                  </c:pt>
                  <c:pt idx="13">
                    <c:v>2010</c:v>
                  </c:pt>
                  <c:pt idx="14">
                    <c:v>2011</c:v>
                  </c:pt>
                  <c:pt idx="15">
                    <c:v>2012</c:v>
                  </c:pt>
                  <c:pt idx="16">
                    <c:v>2013</c:v>
                  </c:pt>
                  <c:pt idx="17">
                    <c:v>2014</c:v>
                  </c:pt>
                  <c:pt idx="18">
                    <c:v>2015</c:v>
                  </c:pt>
                  <c:pt idx="19">
                    <c:v>2016</c:v>
                  </c:pt>
                  <c:pt idx="20">
                    <c:v>2017</c:v>
                  </c:pt>
                  <c:pt idx="21">
                    <c:v>2018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220</c:v>
                </c:pt>
                <c:pt idx="1">
                  <c:v>344</c:v>
                </c:pt>
                <c:pt idx="2">
                  <c:v>293</c:v>
                </c:pt>
                <c:pt idx="3">
                  <c:v>250.5</c:v>
                </c:pt>
                <c:pt idx="4">
                  <c:v>300</c:v>
                </c:pt>
                <c:pt idx="5">
                  <c:v>174.5</c:v>
                </c:pt>
                <c:pt idx="6">
                  <c:v>195</c:v>
                </c:pt>
                <c:pt idx="7">
                  <c:v>213</c:v>
                </c:pt>
                <c:pt idx="8">
                  <c:v>175</c:v>
                </c:pt>
                <c:pt idx="9">
                  <c:v>180</c:v>
                </c:pt>
                <c:pt idx="10">
                  <c:v>115</c:v>
                </c:pt>
                <c:pt idx="11">
                  <c:v>106</c:v>
                </c:pt>
                <c:pt idx="12">
                  <c:v>105</c:v>
                </c:pt>
                <c:pt idx="13">
                  <c:v>108</c:v>
                </c:pt>
                <c:pt idx="14">
                  <c:v>106</c:v>
                </c:pt>
                <c:pt idx="15">
                  <c:v>106</c:v>
                </c:pt>
                <c:pt idx="16">
                  <c:v>100</c:v>
                </c:pt>
                <c:pt idx="17">
                  <c:v>130</c:v>
                </c:pt>
                <c:pt idx="18">
                  <c:v>107</c:v>
                </c:pt>
                <c:pt idx="19">
                  <c:v>120</c:v>
                </c:pt>
                <c:pt idx="20">
                  <c:v>112</c:v>
                </c:pt>
                <c:pt idx="21">
                  <c:v>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DEE9"/>
            </a:solidFill>
            <a:prstDash val="solid"/>
            <a:round/>
          </a:ln>
        </c:spPr>
        <c:txPr>
          <a:bodyPr rot="2700000"/>
          <a:lstStyle/>
          <a:p>
            <a:pPr>
              <a:defRPr sz="950" b="0" i="0" u="none" strike="noStrike">
                <a:solidFill>
                  <a:srgbClr val="978A9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DE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978A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978A9C"/>
                    </a:solidFill>
                    <a:latin typeface="Arial"/>
                  </a:rPr>
                  <a:t>Median enrollment (patients)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78A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1E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440000">
            <a:off x="8778240" y="-2377440"/>
            <a:ext cx="6400800" cy="6400800"/>
          </a:xfrm>
          <a:prstGeom prst="roundRect">
            <a:avLst>
              <a:gd name="adj" fmla="val 12857"/>
            </a:avLst>
          </a:prstGeom>
          <a:solidFill>
            <a:srgbClr val="5A2F63"/>
          </a:solidFill>
          <a:ln/>
        </p:spPr>
      </p:sp>
      <p:sp>
        <p:nvSpPr>
          <p:cNvPr id="3" name="Shape 1"/>
          <p:cNvSpPr/>
          <p:nvPr/>
        </p:nvSpPr>
        <p:spPr>
          <a:xfrm rot="1080000">
            <a:off x="-2834640" y="4572000"/>
            <a:ext cx="5120640" cy="5120640"/>
          </a:xfrm>
          <a:prstGeom prst="roundRect">
            <a:avLst>
              <a:gd name="adj" fmla="val 12500"/>
            </a:avLst>
          </a:prstGeom>
          <a:solidFill>
            <a:srgbClr val="5A2F6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34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VISUALIZATION FINAL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98755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Shifting Landscape of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Global Clinical Trials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3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13,748 trials across 10 major pharmaceutical sponsors, 1984–2020 — what the record of the pre-AI era reveals about where digital health and AI-driven trial design need to go next.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5074920"/>
            <a:ext cx="3108960" cy="0"/>
          </a:xfrm>
          <a:prstGeom prst="line">
            <a:avLst/>
          </a:prstGeom>
          <a:noFill/>
          <a:ln w="19050">
            <a:solidFill>
              <a:srgbClr val="C99A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257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Shirisha Shashidhar Reddy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6235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Master's Program  •  Data Visualization, Final Project  •  July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DATASET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1E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Reading my own industry’s data, not a stranger’s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12080" cy="1874520"/>
          </a:xfrm>
          <a:prstGeom prst="roundRect">
            <a:avLst>
              <a:gd name="adj" fmla="val 4878"/>
            </a:avLst>
          </a:prstGeom>
          <a:solidFill>
            <a:srgbClr val="F5F1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C99A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222199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1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 at IQVIA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78892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directly with clinical trial operations data — this dataset speaks a language I already read fluently.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965960"/>
            <a:ext cx="5212080" cy="1874520"/>
          </a:xfrm>
          <a:prstGeom prst="roundRect">
            <a:avLst>
              <a:gd name="adj" fmla="val 4878"/>
            </a:avLst>
          </a:prstGeom>
          <a:solidFill>
            <a:srgbClr val="F5F1F6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0" y="22402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7A3B63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22199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1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career-defining direction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29400" y="278892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+ data science + AI is where clinical development is heading; this project is a deliberate first step, not a class exercise.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5212080" cy="1874520"/>
          </a:xfrm>
          <a:prstGeom prst="roundRect">
            <a:avLst>
              <a:gd name="adj" fmla="val 4878"/>
            </a:avLst>
          </a:prstGeom>
          <a:solidFill>
            <a:srgbClr val="F5F1F6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343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C99A3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432511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1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industry question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489204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and digital health promise faster, cheaper, more targeted trials. The historical record (1984–2020) is the baseline that promise has to beat.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4069080"/>
            <a:ext cx="5212080" cy="1874520"/>
          </a:xfrm>
          <a:prstGeom prst="roundRect">
            <a:avLst>
              <a:gd name="adj" fmla="val 4878"/>
            </a:avLst>
          </a:prstGeom>
          <a:solidFill>
            <a:srgbClr val="F5F1F6"/>
          </a:solidFill>
          <a:ln/>
        </p:spPr>
      </p:sp>
      <p:sp>
        <p:nvSpPr>
          <p:cNvPr id="20" name="Shape 18"/>
          <p:cNvSpPr/>
          <p:nvPr/>
        </p:nvSpPr>
        <p:spPr>
          <a:xfrm>
            <a:off x="6629400" y="4343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7A3B63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69480" y="432511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1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rich, and unresolved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489204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cleaned-up teaching dataset — messy sponsors, real terminations, real gaps. Exactly the kind of data a working data scientist inherits.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selection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 Explorer  |  Final Project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1E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rich, multi-dimensional record of real drug development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ClinicalTrials.gov trial registrations, sourced via Kaggle (“A Quick Overview of Clinical Trials”)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2514600" cy="1691640"/>
          </a:xfrm>
          <a:prstGeom prst="roundRect">
            <a:avLst>
              <a:gd name="adj" fmla="val 6486"/>
            </a:avLst>
          </a:prstGeom>
          <a:solidFill>
            <a:srgbClr val="3B1E40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2167128"/>
            <a:ext cx="2295144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13,748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49808" y="3014777"/>
            <a:ext cx="22951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0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records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965960"/>
            <a:ext cx="2514600" cy="1691640"/>
          </a:xfrm>
          <a:prstGeom prst="roundRect">
            <a:avLst>
              <a:gd name="adj" fmla="val 6486"/>
            </a:avLst>
          </a:prstGeom>
          <a:solidFill>
            <a:srgbClr val="7A3B63"/>
          </a:solidFill>
          <a:ln/>
        </p:spPr>
      </p:sp>
      <p:sp>
        <p:nvSpPr>
          <p:cNvPr id="9" name="Text 7"/>
          <p:cNvSpPr/>
          <p:nvPr/>
        </p:nvSpPr>
        <p:spPr>
          <a:xfrm>
            <a:off x="3447288" y="2167128"/>
            <a:ext cx="2295144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447288" y="3014777"/>
            <a:ext cx="22951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0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sponsors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965960"/>
            <a:ext cx="2514600" cy="1691640"/>
          </a:xfrm>
          <a:prstGeom prst="roundRect">
            <a:avLst>
              <a:gd name="adj" fmla="val 6486"/>
            </a:avLst>
          </a:prstGeom>
          <a:solidFill>
            <a:srgbClr val="C99A3B"/>
          </a:solidFill>
          <a:ln/>
        </p:spPr>
      </p:sp>
      <p:sp>
        <p:nvSpPr>
          <p:cNvPr id="12" name="Text 10"/>
          <p:cNvSpPr/>
          <p:nvPr/>
        </p:nvSpPr>
        <p:spPr>
          <a:xfrm>
            <a:off x="6144768" y="2167128"/>
            <a:ext cx="2295144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1984–2020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144768" y="3014777"/>
            <a:ext cx="22951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0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history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732520" y="1965960"/>
            <a:ext cx="2514600" cy="1691640"/>
          </a:xfrm>
          <a:prstGeom prst="roundRect">
            <a:avLst>
              <a:gd name="adj" fmla="val 6486"/>
            </a:avLst>
          </a:prstGeom>
          <a:solidFill>
            <a:srgbClr val="B08D57"/>
          </a:solidFill>
          <a:ln/>
        </p:spPr>
      </p:sp>
      <p:sp>
        <p:nvSpPr>
          <p:cNvPr id="15" name="Text 13"/>
          <p:cNvSpPr/>
          <p:nvPr/>
        </p:nvSpPr>
        <p:spPr>
          <a:xfrm>
            <a:off x="8842248" y="2167128"/>
            <a:ext cx="2295144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842248" y="3014777"/>
            <a:ext cx="22951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0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phases tracked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160520"/>
            <a:ext cx="10881360" cy="0"/>
          </a:xfrm>
          <a:prstGeom prst="line">
            <a:avLst/>
          </a:prstGeom>
          <a:noFill/>
          <a:ln w="12700">
            <a:solidFill>
              <a:srgbClr val="E6DE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343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1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types combined in the analysis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8463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5F1F6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956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4672" y="52578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Sponsor, Phase, Status, Condition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429000" y="48463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5F1F6"/>
          </a:solidFill>
          <a:ln/>
        </p:spPr>
      </p:sp>
      <p:sp>
        <p:nvSpPr>
          <p:cNvPr id="23" name="Text 21"/>
          <p:cNvSpPr/>
          <p:nvPr/>
        </p:nvSpPr>
        <p:spPr>
          <a:xfrm>
            <a:off x="3593592" y="4956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593592" y="52578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size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5F1F6"/>
          </a:solidFill>
          <a:ln/>
        </p:spPr>
      </p:sp>
      <p:sp>
        <p:nvSpPr>
          <p:cNvPr id="26" name="Text 24"/>
          <p:cNvSpPr/>
          <p:nvPr/>
        </p:nvSpPr>
        <p:spPr>
          <a:xfrm>
            <a:off x="6382512" y="4956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382512" y="52578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Year / Month, 36-year span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06840" y="48463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5F1F6"/>
          </a:solidFill>
          <a:ln/>
        </p:spPr>
      </p:sp>
      <p:sp>
        <p:nvSpPr>
          <p:cNvPr id="29" name="Text 27"/>
          <p:cNvSpPr/>
          <p:nvPr/>
        </p:nvSpPr>
        <p:spPr>
          <a:xfrm>
            <a:off x="9171432" y="4956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171432" y="52578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Title, Summary (condition classification)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scope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 Explorer  |  Final Project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1E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Being honest about what the data can and can’t say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7A3B6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5544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1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spatial column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88720" y="1929384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has no country/site field, so no map-based view was possible. Every other attribute type (categorical, numerical, temporal, text) is combined instead — the brief asks to combine where possible, not force all four.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770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C99A3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706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272491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1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Zero-enrollment trials excluded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88720" y="3099816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with Enrollment = 0 (never actually enrolled) are dropped from every enrollment-based analysis to avoid distorting medians and distributions.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94106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7A3B6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410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38953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1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Tiny-sample decades excluded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88720" y="427024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1980s (n=1) and 2020s (n=2) are excluded from phase-mix-by-decade comparisons — too few trials to support a percentage breakdown.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111496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C99A3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1114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50657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1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2019–2020 flagged, not hidden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88720" y="5440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counts fall off a cliff in 2019–2020. This reads as a dataset extraction cutoff, not a real slowdown — flagged directly on the chart rather than silently shown as a trend.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data quality notes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 Explorer  |  Final Project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OVER 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B1E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Trial launches grew nearly 400× from 1990 to a 2006–’08 peak, then gradually declined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018520" y="411480"/>
            <a:ext cx="1005840" cy="4572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F1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Q1</a:t>
            </a:r>
            <a:endParaRPr lang="en-US" sz="2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110642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1984–1989 and 2019–2020 omitted — too few trials per year to plot meaningfully alongside the core trend; see methodology.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1 of 7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 Explorer  |  Final Project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OVER 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B1E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Early-phase trials nearly tripled their share since the 1990s, as Phase 3’s dominance faded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018520" y="411480"/>
            <a:ext cx="1005840" cy="4572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F1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Q2</a:t>
            </a:r>
            <a:endParaRPr lang="en-US" sz="2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758952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965960"/>
            <a:ext cx="3246120" cy="3931920"/>
          </a:xfrm>
          <a:prstGeom prst="roundRect">
            <a:avLst>
              <a:gd name="adj" fmla="val 2254"/>
            </a:avLst>
          </a:prstGeom>
          <a:solidFill>
            <a:srgbClr val="F5F1F6"/>
          </a:solidFill>
          <a:ln/>
        </p:spPr>
      </p:sp>
      <p:sp>
        <p:nvSpPr>
          <p:cNvPr id="7" name="Text 4"/>
          <p:cNvSpPr/>
          <p:nvPr/>
        </p:nvSpPr>
        <p:spPr>
          <a:xfrm>
            <a:off x="8549640" y="21945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share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549640" y="24505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9A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4.1%  →  25.4%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549640" y="2880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 to 2010s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549640" y="3337560"/>
            <a:ext cx="2743200" cy="0"/>
          </a:xfrm>
          <a:prstGeom prst="line">
            <a:avLst/>
          </a:prstGeom>
          <a:noFill/>
          <a:ln w="12700">
            <a:solidFill>
              <a:srgbClr val="E6DEE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35204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share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549640" y="377647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B1E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65.5%  →  35.3%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549640" y="42062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 to 2010s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549640" y="46634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 are testing more candidates earlier and cheaper, rather than betting everything on fewer Phase 3 mega-trials.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2 of 7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 Explorer  |  Final Project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COMPARISON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B1E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GSK completes 85.6% of its trials — 26 points ahead of AbbVie, the lowest of the ten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018520" y="411480"/>
            <a:ext cx="1005840" cy="4572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F1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Q3</a:t>
            </a:r>
            <a:endParaRPr lang="en-US" sz="2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110642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3 of 7  —  Completion Rate (%) by sponsor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 Explorer  |  Final Project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COMPARISON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B1E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Pfizer halts nearly 1 in 5 trials before completion — three times AbbVie’s rate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018520" y="411480"/>
            <a:ext cx="1005840" cy="4572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F1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Q4</a:t>
            </a:r>
            <a:endParaRPr lang="en-US" sz="2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110642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4 of 7  —  Terminated / Withdrawn rate (%) by sponsor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 Explorer  |  Final Project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CHARACTERISTICS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B1E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Phase 3 trials enroll a median of 360 patients — 11× Phase 1’s 32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018520" y="411480"/>
            <a:ext cx="1005840" cy="4572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F1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Q5</a:t>
            </a:r>
            <a:endParaRPr lang="en-US" sz="2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74066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965960"/>
            <a:ext cx="3337560" cy="3931920"/>
          </a:xfrm>
          <a:prstGeom prst="roundRect">
            <a:avLst>
              <a:gd name="adj" fmla="val 2192"/>
            </a:avLst>
          </a:prstGeom>
          <a:solidFill>
            <a:srgbClr val="F5F1F6"/>
          </a:solidFill>
          <a:ln/>
        </p:spPr>
      </p:sp>
      <p:sp>
        <p:nvSpPr>
          <p:cNvPr id="7" name="Text 4"/>
          <p:cNvSpPr/>
          <p:nvPr/>
        </p:nvSpPr>
        <p:spPr>
          <a:xfrm>
            <a:off x="8458200" y="2194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458200" y="260604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tests safety in a small cohort. Phase 3 has to prove efficacy at population scale before regulators will sign off — the enrollment curve is really the cost curve of de-risking a drug.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458200" y="429768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3B1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the cost AI-assisted patient matching and adaptive trial design are aimed at compressing.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5 of 7  —  Median Enrollment by Phase (patients with Enrollment &gt; 0)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 Explorer  |  Final Project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COMPARISON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B1E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Gilead’s pipeline is 62% infectious disease — the most concentrated focus of any major sponsor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018520" y="411480"/>
            <a:ext cx="1005840" cy="4572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F1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Q6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4297680"/>
        </p:xfrm>
        <a:graphic>
          <a:graphicData uri="http://schemas.openxmlformats.org/drawingml/2006/table">
            <a:tbl>
              <a:tblPr/>
              <a:tblGrid>
                <a:gridCol w="3200400"/>
                <a:gridCol w="4937760"/>
                <a:gridCol w="2743200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Sponsor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Leading therapeutic area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sponsor’s trials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4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Gilead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99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Infectious Disease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C99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Roche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99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Oncology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C99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99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Oncology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C99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Infectious Disease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Novartis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Oncology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AbbVie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Oncology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JNJ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Neurological/Psychiatric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Sanofi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Oncology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Oncology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Infectious Disease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B19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with a leading specialty above 45% of the sponsor’s trial volume are highlighted — a strong single-therapeutic-area bet, not a diversified portfolio.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6 of 7  —  Excludes conditions that don’t map to a defined therapeutic area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 Explorer  |  Final Project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OVER 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B1E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Median trial size has nearly halved since the late 1990s — from ~300 to ~120 patients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018520" y="411480"/>
            <a:ext cx="1005840" cy="4572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F1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Q7</a:t>
            </a:r>
            <a:endParaRPr lang="en-US" sz="2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110642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to 1997–2018, where each year has ≥35 trials — enough for a stable median. Trials with Enrollment = 0 excluded.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7 of 7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 Explorer  |  Final Project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1E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Explore it yourself: a live, filterable dashboard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21792" y="1581912"/>
            <a:ext cx="6620256" cy="4608576"/>
          </a:xfrm>
          <a:prstGeom prst="roundRect">
            <a:avLst>
              <a:gd name="adj" fmla="val 1587"/>
            </a:avLst>
          </a:prstGeom>
          <a:solidFill>
            <a:srgbClr val="5A2F63"/>
          </a:solidFill>
          <a:ln/>
        </p:spPr>
      </p:sp>
      <p:pic>
        <p:nvPicPr>
          <p:cNvPr id="5" name="Image 0" descr="dashboard_screensh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00200"/>
            <a:ext cx="658368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0" y="16916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1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tabs, one shared filter set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498080" y="222199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99A3B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0" y="21214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Over Time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0" y="241401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volume by year, phase mix by decade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498080" y="309067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99A3B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0" y="29900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Comparison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0" y="328269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&amp; termination rates, side by side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98080" y="395935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99A3B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38587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Characteristics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772400" y="415137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by phase, therapeutic-area heatmap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498080" y="4846320"/>
            <a:ext cx="4023360" cy="0"/>
          </a:xfrm>
          <a:prstGeom prst="line">
            <a:avLst/>
          </a:prstGeom>
          <a:noFill/>
          <a:ln w="12700">
            <a:solidFill>
              <a:srgbClr val="E6DEE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0" y="502920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Sponsor, phase, and year filters apply live across all three tabs — not a static chart dump.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498080" y="58064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dashboard: siris-clinical-trials.streamlit.app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60807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github.com/shirisha-shashidhar/clinical-trials-final-project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 Explorer  |  Final Project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B1E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9966960" y="3840480"/>
            <a:ext cx="5303520" cy="5303520"/>
          </a:xfrm>
          <a:prstGeom prst="roundRect">
            <a:avLst>
              <a:gd name="adj" fmla="val 13793"/>
            </a:avLst>
          </a:prstGeom>
          <a:solidFill>
            <a:srgbClr val="5A2F63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48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332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 industry becoming more cautious, more fragmented —</a:t>
            </a:r>
            <a:endParaRPr lang="en-US" sz="25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 ready to be reshaped by AI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2743200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7A3B6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7432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2688336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0E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 are getting smaller and earlier-phase-heavy — sponsors are de-risking earlier rather than betting big on fewer Phase 3s.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63931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7A3B6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639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3584448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0E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and termination rates vary 3× across sponsors doing the same kind of work — execution discipline, not just science, drives outcomes.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535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7A3B63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535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448056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0E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 are specializing (Gilead in infectious disease, Roche in oncology) rather than running generalist pipelines.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5431536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C99A3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4315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5376672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0E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this is the pre-AI baseline. Digital health promises faster patient matching, adaptive designs, and leaner trials — the metrics on this deck are exactly what that promise needs to beat.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7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 Explorer  |  Final Project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1E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Shifting Landscape of Global Clinical Trials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108960" y="3657600"/>
            <a:ext cx="5943600" cy="1920240"/>
          </a:xfrm>
          <a:prstGeom prst="roundRect">
            <a:avLst>
              <a:gd name="adj" fmla="val 3810"/>
            </a:avLst>
          </a:prstGeom>
          <a:solidFill>
            <a:srgbClr val="F5F1F6"/>
          </a:solidFill>
          <a:ln/>
        </p:spPr>
      </p:sp>
      <p:sp>
        <p:nvSpPr>
          <p:cNvPr id="5" name="Text 3"/>
          <p:cNvSpPr/>
          <p:nvPr/>
        </p:nvSpPr>
        <p:spPr>
          <a:xfrm>
            <a:off x="3383280" y="388620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83280" y="42062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github.com/shirisha-shashidhar/clinical-trials-final-project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83280" y="4709160"/>
            <a:ext cx="5394960" cy="0"/>
          </a:xfrm>
          <a:prstGeom prst="line">
            <a:avLst/>
          </a:prstGeom>
          <a:noFill/>
          <a:ln w="12700">
            <a:solidFill>
              <a:srgbClr val="E6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48463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51663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siris-clinical-trials.streamlit.app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Shirisha Shashidhar Reddy  •  Data Visualization, Final Project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2026-07-30T15:01:48Z</dcterms:created>
  <dcterms:modified xsi:type="dcterms:W3CDTF">2026-07-30T15:01:48Z</dcterms:modified>
</cp:coreProperties>
</file>