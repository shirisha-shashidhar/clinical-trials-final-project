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 started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1984</c:v>
                  </c:pt>
                  <c:pt idx="1">
                    <c:v>1985</c:v>
                  </c:pt>
                  <c:pt idx="2">
                    <c:v>1988</c:v>
                  </c:pt>
                  <c:pt idx="3">
                    <c:v>1989</c:v>
                  </c:pt>
                  <c:pt idx="4">
                    <c:v>1990</c:v>
                  </c:pt>
                  <c:pt idx="5">
                    <c:v>1991</c:v>
                  </c:pt>
                  <c:pt idx="6">
                    <c:v>1992</c:v>
                  </c:pt>
                  <c:pt idx="7">
                    <c:v>1993</c:v>
                  </c:pt>
                  <c:pt idx="8">
                    <c:v>1994</c:v>
                  </c:pt>
                  <c:pt idx="9">
                    <c:v>1995</c:v>
                  </c:pt>
                  <c:pt idx="10">
                    <c:v>1996</c:v>
                  </c:pt>
                  <c:pt idx="11">
                    <c:v>1997</c:v>
                  </c:pt>
                  <c:pt idx="12">
                    <c:v>1998</c:v>
                  </c:pt>
                  <c:pt idx="13">
                    <c:v>1999</c:v>
                  </c:pt>
                  <c:pt idx="14">
                    <c:v>2000</c:v>
                  </c:pt>
                  <c:pt idx="15">
                    <c:v>2001</c:v>
                  </c:pt>
                  <c:pt idx="16">
                    <c:v>2002</c:v>
                  </c:pt>
                  <c:pt idx="17">
                    <c:v>2003</c:v>
                  </c:pt>
                  <c:pt idx="18">
                    <c:v>2004</c:v>
                  </c:pt>
                  <c:pt idx="19">
                    <c:v>2005</c:v>
                  </c:pt>
                  <c:pt idx="20">
                    <c:v>2006</c:v>
                  </c:pt>
                  <c:pt idx="21">
                    <c:v>2007</c:v>
                  </c:pt>
                  <c:pt idx="22">
                    <c:v>2008</c:v>
                  </c:pt>
                  <c:pt idx="23">
                    <c:v>2009</c:v>
                  </c:pt>
                  <c:pt idx="24">
                    <c:v>2010</c:v>
                  </c:pt>
                  <c:pt idx="25">
                    <c:v>2011</c:v>
                  </c:pt>
                  <c:pt idx="26">
                    <c:v>2012</c:v>
                  </c:pt>
                  <c:pt idx="27">
                    <c:v>2013</c:v>
                  </c:pt>
                  <c:pt idx="28">
                    <c:v>2014</c:v>
                  </c:pt>
                  <c:pt idx="29">
                    <c:v>2015</c:v>
                  </c:pt>
                  <c:pt idx="30">
                    <c:v>2016</c:v>
                  </c:pt>
                  <c:pt idx="31">
                    <c:v>2017</c:v>
                  </c:pt>
                  <c:pt idx="32">
                    <c:v>2018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9</c:v>
                </c:pt>
                <c:pt idx="7">
                  <c:v>11</c:v>
                </c:pt>
                <c:pt idx="8">
                  <c:v>5</c:v>
                </c:pt>
                <c:pt idx="9">
                  <c:v>16</c:v>
                </c:pt>
                <c:pt idx="10">
                  <c:v>12</c:v>
                </c:pt>
                <c:pt idx="11">
                  <c:v>35</c:v>
                </c:pt>
                <c:pt idx="12">
                  <c:v>47</c:v>
                </c:pt>
                <c:pt idx="13">
                  <c:v>72</c:v>
                </c:pt>
                <c:pt idx="14">
                  <c:v>113</c:v>
                </c:pt>
                <c:pt idx="15">
                  <c:v>217</c:v>
                </c:pt>
                <c:pt idx="16">
                  <c:v>381</c:v>
                </c:pt>
                <c:pt idx="17">
                  <c:v>607</c:v>
                </c:pt>
                <c:pt idx="18">
                  <c:v>799</c:v>
                </c:pt>
                <c:pt idx="19">
                  <c:v>897</c:v>
                </c:pt>
                <c:pt idx="20">
                  <c:v>1104</c:v>
                </c:pt>
                <c:pt idx="21">
                  <c:v>1115</c:v>
                </c:pt>
                <c:pt idx="22">
                  <c:v>1089</c:v>
                </c:pt>
                <c:pt idx="23">
                  <c:v>964</c:v>
                </c:pt>
                <c:pt idx="24">
                  <c:v>913</c:v>
                </c:pt>
                <c:pt idx="25">
                  <c:v>872</c:v>
                </c:pt>
                <c:pt idx="26">
                  <c:v>802</c:v>
                </c:pt>
                <c:pt idx="27">
                  <c:v>741</c:v>
                </c:pt>
                <c:pt idx="28">
                  <c:v>649</c:v>
                </c:pt>
                <c:pt idx="29">
                  <c:v>669</c:v>
                </c:pt>
                <c:pt idx="30">
                  <c:v>555</c:v>
                </c:pt>
                <c:pt idx="31">
                  <c:v>472</c:v>
                </c:pt>
                <c:pt idx="32">
                  <c:v>518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8C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C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C97A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C97A8"/>
                    </a:solidFill>
                    <a:latin typeface="Arial"/>
                  </a:rPr>
                  <a:t>Trials started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1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</c:v>
                </c:pt>
                <c:pt idx="1">
                  <c:v>14.7</c:v>
                </c:pt>
                <c:pt idx="2">
                  <c:v>25.4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24.4</c:v>
                </c:pt>
                <c:pt idx="1">
                  <c:v>27.6</c:v>
                </c:pt>
                <c:pt idx="2">
                  <c:v>27.7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Phase 3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65.5</c:v>
                </c:pt>
                <c:pt idx="1">
                  <c:v>38.6</c:v>
                </c:pt>
                <c:pt idx="2">
                  <c:v>35.3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Phase 4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6.1</c:v>
                </c:pt>
                <c:pt idx="1">
                  <c:v>19.1</c:v>
                </c:pt>
                <c:pt idx="2">
                  <c:v>11.5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4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spPr>
            <a:solidFill>
              <a:srgbClr val="0B2545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AbbVie</c:v>
                  </c:pt>
                  <c:pt idx="1">
                    <c:v>Gilead</c:v>
                  </c:pt>
                  <c:pt idx="2">
                    <c:v>Roche</c:v>
                  </c:pt>
                  <c:pt idx="3">
                    <c:v>Pfizer</c:v>
                  </c:pt>
                  <c:pt idx="4">
                    <c:v>Novartis</c:v>
                  </c:pt>
                  <c:pt idx="5">
                    <c:v>JNJ</c:v>
                  </c:pt>
                  <c:pt idx="6">
                    <c:v>Bayer</c:v>
                  </c:pt>
                  <c:pt idx="7">
                    <c:v>Merck</c:v>
                  </c:pt>
                  <c:pt idx="8">
                    <c:v>Sanofi</c:v>
                  </c:pt>
                  <c:pt idx="9">
                    <c:v>GSK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59.2</c:v>
                </c:pt>
                <c:pt idx="1">
                  <c:v>69.1</c:v>
                </c:pt>
                <c:pt idx="2">
                  <c:v>70.5</c:v>
                </c:pt>
                <c:pt idx="3">
                  <c:v>74.8</c:v>
                </c:pt>
                <c:pt idx="4">
                  <c:v>75.1</c:v>
                </c:pt>
                <c:pt idx="5">
                  <c:v>75.9</c:v>
                </c:pt>
                <c:pt idx="6">
                  <c:v>75.9</c:v>
                </c:pt>
                <c:pt idx="7">
                  <c:v>76.8</c:v>
                </c:pt>
                <c:pt idx="8">
                  <c:v>80.8</c:v>
                </c:pt>
                <c:pt idx="9">
                  <c:v>85.6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Terminated / withdrawn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AbbVie</c:v>
                  </c:pt>
                  <c:pt idx="1">
                    <c:v>Bayer</c:v>
                  </c:pt>
                  <c:pt idx="2">
                    <c:v>GSK</c:v>
                  </c:pt>
                  <c:pt idx="3">
                    <c:v>Roche</c:v>
                  </c:pt>
                  <c:pt idx="4">
                    <c:v>Sanofi</c:v>
                  </c:pt>
                  <c:pt idx="5">
                    <c:v>JNJ</c:v>
                  </c:pt>
                  <c:pt idx="6">
                    <c:v>Novartis</c:v>
                  </c:pt>
                  <c:pt idx="7">
                    <c:v>Gilead</c:v>
                  </c:pt>
                  <c:pt idx="8">
                    <c:v>Merck</c:v>
                  </c:pt>
                  <c:pt idx="9">
                    <c:v>Pfizer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5.8</c:v>
                </c:pt>
                <c:pt idx="1">
                  <c:v>8.7</c:v>
                </c:pt>
                <c:pt idx="2">
                  <c:v>8.8</c:v>
                </c:pt>
                <c:pt idx="3">
                  <c:v>9.2</c:v>
                </c:pt>
                <c:pt idx="4">
                  <c:v>9.8</c:v>
                </c:pt>
                <c:pt idx="5">
                  <c:v>10.3</c:v>
                </c:pt>
                <c:pt idx="6">
                  <c:v>11</c:v>
                </c:pt>
                <c:pt idx="7">
                  <c:v>12.9</c:v>
                </c:pt>
                <c:pt idx="8">
                  <c:v>14.6</c:v>
                </c:pt>
                <c:pt idx="9">
                  <c:v>17.5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enrollment</c:v>
                </c:pt>
              </c:strCache>
            </c:strRef>
          </c:tx>
          <c:spPr>
            <a:solidFill>
              <a:srgbClr val="8C97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97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Phase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98</c:v>
                </c:pt>
                <c:pt idx="2">
                  <c:v>360</c:v>
                </c:pt>
                <c:pt idx="3">
                  <c:v>171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enrollment</c:v>
                </c:pt>
              </c:strCache>
            </c:strRef>
          </c:tx>
          <c:spPr>
            <a:solidFill>
              <a:srgbClr val="E07B39"/>
            </a:solidFill>
            <a:ln w="34925" cap="flat">
              <a:solidFill>
                <a:srgbClr val="E07B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1997</c:v>
                  </c:pt>
                  <c:pt idx="1">
                    <c:v>1998</c:v>
                  </c:pt>
                  <c:pt idx="2">
                    <c:v>1999</c:v>
                  </c:pt>
                  <c:pt idx="3">
                    <c:v>2000</c:v>
                  </c:pt>
                  <c:pt idx="4">
                    <c:v>2001</c:v>
                  </c:pt>
                  <c:pt idx="5">
                    <c:v>2002</c:v>
                  </c:pt>
                  <c:pt idx="6">
                    <c:v>2003</c:v>
                  </c:pt>
                  <c:pt idx="7">
                    <c:v>2004</c:v>
                  </c:pt>
                  <c:pt idx="8">
                    <c:v>2005</c:v>
                  </c:pt>
                  <c:pt idx="9">
                    <c:v>2006</c:v>
                  </c:pt>
                  <c:pt idx="10">
                    <c:v>2007</c:v>
                  </c:pt>
                  <c:pt idx="11">
                    <c:v>2008</c:v>
                  </c:pt>
                  <c:pt idx="12">
                    <c:v>2009</c:v>
                  </c:pt>
                  <c:pt idx="13">
                    <c:v>2010</c:v>
                  </c:pt>
                  <c:pt idx="14">
                    <c:v>2011</c:v>
                  </c:pt>
                  <c:pt idx="15">
                    <c:v>2012</c:v>
                  </c:pt>
                  <c:pt idx="16">
                    <c:v>2013</c:v>
                  </c:pt>
                  <c:pt idx="17">
                    <c:v>2014</c:v>
                  </c:pt>
                  <c:pt idx="18">
                    <c:v>2015</c:v>
                  </c:pt>
                  <c:pt idx="19">
                    <c:v>2016</c:v>
                  </c:pt>
                  <c:pt idx="20">
                    <c:v>2017</c:v>
                  </c:pt>
                  <c:pt idx="21">
                    <c:v>2018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220</c:v>
                </c:pt>
                <c:pt idx="1">
                  <c:v>344</c:v>
                </c:pt>
                <c:pt idx="2">
                  <c:v>293</c:v>
                </c:pt>
                <c:pt idx="3">
                  <c:v>250.5</c:v>
                </c:pt>
                <c:pt idx="4">
                  <c:v>300</c:v>
                </c:pt>
                <c:pt idx="5">
                  <c:v>174.5</c:v>
                </c:pt>
                <c:pt idx="6">
                  <c:v>195</c:v>
                </c:pt>
                <c:pt idx="7">
                  <c:v>213</c:v>
                </c:pt>
                <c:pt idx="8">
                  <c:v>175</c:v>
                </c:pt>
                <c:pt idx="9">
                  <c:v>180</c:v>
                </c:pt>
                <c:pt idx="10">
                  <c:v>115</c:v>
                </c:pt>
                <c:pt idx="11">
                  <c:v>106</c:v>
                </c:pt>
                <c:pt idx="12">
                  <c:v>105</c:v>
                </c:pt>
                <c:pt idx="13">
                  <c:v>108</c:v>
                </c:pt>
                <c:pt idx="14">
                  <c:v>106</c:v>
                </c:pt>
                <c:pt idx="15">
                  <c:v>106</c:v>
                </c:pt>
                <c:pt idx="16">
                  <c:v>100</c:v>
                </c:pt>
                <c:pt idx="17">
                  <c:v>130</c:v>
                </c:pt>
                <c:pt idx="18">
                  <c:v>107</c:v>
                </c:pt>
                <c:pt idx="19">
                  <c:v>120</c:v>
                </c:pt>
                <c:pt idx="20">
                  <c:v>112</c:v>
                </c:pt>
                <c:pt idx="21">
                  <c:v>135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 rot="2700000"/>
          <a:lstStyle/>
          <a:p>
            <a:pPr>
              <a:defRPr sz="950" b="0" i="0" u="none" strike="noStrike">
                <a:solidFill>
                  <a:srgbClr val="8C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C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C97A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C97A8"/>
                    </a:solidFill>
                    <a:latin typeface="Arial"/>
                  </a:rPr>
                  <a:t>Median enrollment (patients)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32C4F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132C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VISUALIZATION FINAL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9875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Shifting Landscape of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Clinical Trials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13,748 trials across 10 major pharmaceutical sponsors, 1984–2020 — what the record of the pre-AI era reveals about where digital health and AI-driven trial design need to go next.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108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Shirisha Shashidhar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Master's Program  •  Data Visualization, Final Project  • 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my own industry’s data, not a stranger’s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DEFF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21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at IQVIA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directly with clinical trial operations data — this dataset speaks a language I already read fluently.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DEFF2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221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career-defining direction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7889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+ data science + AI is where clinical development is heading; this project is a deliberate first step, not a class exercise.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DEFF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industry question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digital health promise faster, cheaper, more targeted trials. The historical record (1984–2020) is the baseline that promise has to beat.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DEF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343400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3251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rich, and unresolved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4892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cleaned-up teaching dataset — messy sponsors, real terminations, real gaps. Exactly the kind of data a working data scientist inherits.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rich, multi-dimensional record of real drug development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trial registrations, sourced via Kaggle (“A Quick Overview of Clinical Trials”)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691640" cy="1691640"/>
          </a:xfrm>
          <a:prstGeom prst="ellipse">
            <a:avLst/>
          </a:prstGeom>
          <a:solidFill>
            <a:srgbClr val="EDEFF2"/>
          </a:solidFill>
          <a:ln w="28575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70455"/>
            <a:ext cx="169164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13,748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14777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965960"/>
            <a:ext cx="1691640" cy="1691640"/>
          </a:xfrm>
          <a:prstGeom prst="ellipse">
            <a:avLst/>
          </a:prstGeom>
          <a:solidFill>
            <a:srgbClr val="EDEFF2"/>
          </a:solidFill>
          <a:ln w="285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270455"/>
            <a:ext cx="169164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3014777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sponsors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1691640" cy="1691640"/>
          </a:xfrm>
          <a:prstGeom prst="ellipse">
            <a:avLst/>
          </a:prstGeom>
          <a:solidFill>
            <a:srgbClr val="EDEFF2"/>
          </a:solidFill>
          <a:ln w="28575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270455"/>
            <a:ext cx="169164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1984–2020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4777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32520" y="1965960"/>
            <a:ext cx="1691640" cy="1691640"/>
          </a:xfrm>
          <a:prstGeom prst="ellipse">
            <a:avLst/>
          </a:prstGeom>
          <a:solidFill>
            <a:srgbClr val="EDEFF2"/>
          </a:solidFill>
          <a:ln w="28575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270455"/>
            <a:ext cx="169164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95360" y="3014777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phases tracked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types combined in the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FF2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956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" y="5257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Phase, Status, Condition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4846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FF2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4956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93592" y="5257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size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FF2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956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82512" y="5257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Year / Month, 36-year span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06840" y="4846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FF2"/>
          </a:solidFill>
          <a:ln/>
        </p:spPr>
      </p:sp>
      <p:sp>
        <p:nvSpPr>
          <p:cNvPr id="29" name="Text 27"/>
          <p:cNvSpPr/>
          <p:nvPr/>
        </p:nvSpPr>
        <p:spPr>
          <a:xfrm>
            <a:off x="9171432" y="4956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71432" y="5257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Title, Summary (condition classification)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scope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what the data can and can’t say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column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1929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country/site field, so no map-based view was possible. Every other attribute type (categorical, numerical, temporal, text) is combined instead — the brief asks to combine where possible, not force all four.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Zero-enrollment trials excluded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3099816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Enrollment = 0 (never actually enrolled) are dropped from every enrollment-based analysis to avoid distorting medians and distributions.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953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Tiny-sample decades excluded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270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1980s (n=1) and 2020s (n=2) are excluded from phase-mix-by-decade comparisons — too few trials to support a percentage breakdown.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384048" cy="38404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065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2019–2020 flagged, not hidden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5440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counts fall off a cliff in 2019–2020. This reads as a dataset extraction cutoff, not a real slowdown — flagged directly on the chart rather than silently shown as a trend.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quality notes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launches grew nearly 400× from 1990 to a 2006–’08 peak, then gradually declined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1984–1989 and 2019–2020 omitted — too few trials per year to plot meaningfully alongside the core trend; see methodology.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of 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Early-phase trials nearly tripled their share since the 1990s, as Phase 3’s dominance faded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5895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965960"/>
            <a:ext cx="3246120" cy="3931920"/>
          </a:xfrm>
          <a:prstGeom prst="roundRect">
            <a:avLst>
              <a:gd name="adj" fmla="val 2254"/>
            </a:avLst>
          </a:prstGeom>
          <a:solidFill>
            <a:srgbClr val="EDEFF2"/>
          </a:solidFill>
          <a:ln/>
        </p:spPr>
      </p:sp>
      <p:sp>
        <p:nvSpPr>
          <p:cNvPr id="7" name="Text 4"/>
          <p:cNvSpPr/>
          <p:nvPr/>
        </p:nvSpPr>
        <p:spPr>
          <a:xfrm>
            <a:off x="85496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49640" y="2450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4.1%  →  25.4%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4964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to 2010s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549640" y="3337560"/>
            <a:ext cx="274320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share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49640" y="3776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65.5%  →  35.3%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54964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to 2010s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49640" y="466344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are testing more candidates earlier and cheaper, rather than betting everything on fewer Phase 3 mega-trials.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of 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GSK completes 85.6% of its trials — 26 points ahead of AbbVie, the lowest of the ten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of 7  —  Completion Rate (%) by sponsor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Pfizer halts nearly 1 in 5 trials before completion — three times AbbVie’s rate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of 7  —  Terminated / Withdrawn rate (%) by sponsor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CHARACTERISTICS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trials enroll a median of 360 patients — 11× Phase 1’s 32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6596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EDEFF2"/>
          </a:solidFill>
          <a:ln/>
        </p:spPr>
      </p:sp>
      <p:sp>
        <p:nvSpPr>
          <p:cNvPr id="7" name="Text 4"/>
          <p:cNvSpPr/>
          <p:nvPr/>
        </p:nvSpPr>
        <p:spPr>
          <a:xfrm>
            <a:off x="84582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58200" y="2606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tests safety in a small cohort. Phase 3 has to prove efficacy at population scale before regulators will sign off — the enrollment curve is really the cost curve of de-risking a drug.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58200" y="4297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cost AI-assisted patient matching and adaptive trial design are aimed at compressing.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of 7  —  Median Enrollment by Phase (patients with Enrollment &gt; 0)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Gilead’s pipeline is 62% infectious disease — the most concentrated focus of any major sponsor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429768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  <a:gridCol w="2743200"/>
              </a:tblGrid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therapeutic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sponsor’s trials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 Disease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 Disease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Novartis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AbbVie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JNJ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Neurological/Psychiatric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Sanofi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 Disease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leading specialty above 45% of the sponsor’s trial volume are highlighted — a strong single-therapeutic-area bet, not a diversified portfolio.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6 of 7  —  Excludes conditions that don’t map to a defined therapeutic area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trial size has nearly halved since the late 1990s — from ~300 to ~120 patients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75720" y="411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1997–2018, where each year has ≥35 trials — enough for a stable median. Trials with Enrollment = 0 excluded.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7 of 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it yourself: a live, filterable dashboard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132C4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— insert after Streamlit Cloud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tabs, one shared filter 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2240280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121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24140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volume by year, phase mix by decade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3108960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Comparison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32826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&amp; termination rates, side by side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0" y="3977640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858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Characteristics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4151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by phase, therapeutic-area heatmap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0" y="4846320"/>
            <a:ext cx="402336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50292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phase, and year filters apply live across all three tabs — not a static chart dump.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0" y="5806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[add Streamlit Cloud URL]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0" y="6080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[add GitHub repo URL]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206240"/>
            <a:ext cx="5029200" cy="5029200"/>
          </a:xfrm>
          <a:prstGeom prst="ellipse">
            <a:avLst/>
          </a:prstGeom>
          <a:solidFill>
            <a:srgbClr val="132C4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industry becoming more cautious, more fragmented —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ready to be reshaped by 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688336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are getting smaller and earlier-phase-heavy — sponsors are de-risking earlier rather than betting big on fewer Phase 3s.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6393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58444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and termination rates vary 3× across sponsors doing the same kind of work — execution discipline, not just science, drives outcomes.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535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4805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are specializing (Gilead in infectious disease, Roche in oncology) rather than running generalist pipelines.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4315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B3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431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376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the pre-AI baseline. Digital health promises faster patient matching, adaptive designs, and leaner trials — the metrics on this deck are exactly what that promise needs to beat.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Explorer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Shifting Landscape of Global Clinical Trials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108960" y="3657600"/>
            <a:ext cx="5943600" cy="1920240"/>
          </a:xfrm>
          <a:prstGeom prst="roundRect">
            <a:avLst>
              <a:gd name="adj" fmla="val 3810"/>
            </a:avLst>
          </a:prstGeom>
          <a:solidFill>
            <a:srgbClr val="EDEFF2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3886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public GitHub repo URL]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4709160"/>
            <a:ext cx="539496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4846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5166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Streamlit Community Cloud URL]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Shirisha Shashidhar  •  Data Visualization, Final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2026-07-30T14:09:21Z</dcterms:created>
  <dcterms:modified xsi:type="dcterms:W3CDTF">2026-07-30T14:09:21Z</dcterms:modified>
</cp:coreProperties>
</file>